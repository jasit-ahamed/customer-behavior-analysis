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svg" ContentType="image/svg+xml"/>
  <Default Extension="fntdata" ContentType="application/x-fontdata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1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 Medium"/>
      <p:regular r:id="rId17"/>
    </p:embeddedFont>
    <p:embeddedFont>
      <p:font typeface="Barlow Medium"/>
      <p:regular r:id="rId18"/>
    </p:embeddedFont>
    <p:embeddedFont>
      <p:font typeface="Barlow Medium"/>
      <p:regular r:id="rId19"/>
    </p:embeddedFont>
    <p:embeddedFont>
      <p:font typeface="Barlow Medium"/>
      <p:regular r:id="rId20"/>
    </p:embeddedFont>
    <p:embeddedFont>
      <p:font typeface="Barlow"/>
      <p:regular r:id="rId21"/>
    </p:embeddedFont>
    <p:embeddedFont>
      <p:font typeface="Barlow"/>
      <p:regular r:id="rId22"/>
    </p:embeddedFont>
    <p:embeddedFont>
      <p:font typeface="Barlow"/>
      <p:regular r:id="rId23"/>
    </p:embeddedFont>
    <p:embeddedFont>
      <p:font typeface="Barlow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Relationship Type="http://schemas.openxmlformats.org/officeDocument/2006/relationships/slide" Target="/ppt/slides/slide10.xml" Id="rId11" /><Relationship Type="http://schemas.openxmlformats.org/officeDocument/2006/relationships/notesMaster" Target="/ppt/notesMasters/notesMaster1.xml" Id="rId12" /><Relationship Type="http://schemas.openxmlformats.org/officeDocument/2006/relationships/presProps" Target="/ppt/presProps.xml" Id="rId13" /><Relationship Type="http://schemas.openxmlformats.org/officeDocument/2006/relationships/viewProps" Target="/ppt/viewProps.xml" Id="rId14" /><Relationship Type="http://schemas.openxmlformats.org/officeDocument/2006/relationships/theme" Target="/ppt/theme/theme1.xml" Id="rId15" /><Relationship Type="http://schemas.openxmlformats.org/officeDocument/2006/relationships/tableStyles" Target="/ppt/tableStyles.xml" Id="rId16" /><Relationship Type="http://schemas.openxmlformats.org/officeDocument/2006/relationships/font" Target="/ppt/fonts/font1.fntdata" Id="rId17" /><Relationship Type="http://schemas.openxmlformats.org/officeDocument/2006/relationships/font" Target="/ppt/fonts/font2.fntdata" Id="rId18" /><Relationship Type="http://schemas.openxmlformats.org/officeDocument/2006/relationships/font" Target="/ppt/fonts/font3.fntdata" Id="rId19" /><Relationship Type="http://schemas.openxmlformats.org/officeDocument/2006/relationships/font" Target="/ppt/fonts/font4.fntdata" Id="rId20" /><Relationship Type="http://schemas.openxmlformats.org/officeDocument/2006/relationships/font" Target="/ppt/fonts/font5.fntdata" Id="rId21" /><Relationship Type="http://schemas.openxmlformats.org/officeDocument/2006/relationships/font" Target="/ppt/fonts/font6.fntdata" Id="rId22" /><Relationship Type="http://schemas.openxmlformats.org/officeDocument/2006/relationships/font" Target="/ppt/fonts/font7.fntdata" Id="rId23" /><Relationship Type="http://schemas.openxmlformats.org/officeDocument/2006/relationships/font" Target="/ppt/fonts/font8.fntdata" Id="rId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0.xml" Id="rId2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-1002-1.png" Id="rId1" /><Relationship Type="http://schemas.openxmlformats.org/officeDocument/2006/relationships/image" Target="/ppt/media/image-1002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/ppt/media/image-1003-1.png" Id="rId1" /><Relationship Type="http://schemas.openxmlformats.org/officeDocument/2006/relationships/image" Target="/ppt/media/image-1003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image" Target="/ppt/media/image-1004-1.png" Id="rId1" /><Relationship Type="http://schemas.openxmlformats.org/officeDocument/2006/relationships/image" Target="/ppt/media/image-1004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image" Target="/ppt/media/image-1005-1.png" Id="rId1" /><Relationship Type="http://schemas.openxmlformats.org/officeDocument/2006/relationships/image" Target="/ppt/media/image-1005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image" Target="/ppt/media/image-1006-1.png" Id="rId1" /><Relationship Type="http://schemas.openxmlformats.org/officeDocument/2006/relationships/image" Target="/ppt/media/image-1006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image" Target="/ppt/media/image-1007-1.png" Id="rId1" /><Relationship Type="http://schemas.openxmlformats.org/officeDocument/2006/relationships/image" Target="/ppt/media/image-1007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image" Target="/ppt/media/image-1008-1.png" Id="rId1" /><Relationship Type="http://schemas.openxmlformats.org/officeDocument/2006/relationships/image" Target="/ppt/media/image-1008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image" Target="/ppt/media/image-1009-1.png" Id="rId1" /><Relationship Type="http://schemas.openxmlformats.org/officeDocument/2006/relationships/image" Target="/ppt/media/image-1009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image" Target="/ppt/media/image-1010-1.png" Id="rId1" /><Relationship Type="http://schemas.openxmlformats.org/officeDocument/2006/relationships/image" Target="/ppt/media/image-1010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image" Target="/ppt/media/image-1011-1.png" Id="rId1" /><Relationship Type="http://schemas.openxmlformats.org/officeDocument/2006/relationships/image" Target="/ppt/media/image-1011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-1-1.png" Id="rId1" /><Relationship Type="http://schemas.openxmlformats.org/officeDocument/2006/relationships/slideLayout" Target="/ppt/slideLayouts/slideLayout2.xml" Id="rId2" /><Relationship Type="http://schemas.openxmlformats.org/officeDocument/2006/relationships/notesSlide" Target="/ppt/notesSlides/notesSlide1.xml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-2-1.png" Id="rId1" /><Relationship Type="http://schemas.openxmlformats.org/officeDocument/2006/relationships/slideLayout" Target="/ppt/slideLayouts/slideLayout3.xml" Id="rId2" /><Relationship Type="http://schemas.openxmlformats.org/officeDocument/2006/relationships/notesSlide" Target="/ppt/notesSlides/notesSlide2.xml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-3-1.png" Id="rId1" /><Relationship Type="http://schemas.openxmlformats.org/officeDocument/2006/relationships/slideLayout" Target="/ppt/slideLayouts/slideLayout4.xml" Id="rId2" /><Relationship Type="http://schemas.openxmlformats.org/officeDocument/2006/relationships/notesSlide" Target="/ppt/notesSlides/notesSlide3.xml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-4-1.png" Id="rId1" /><Relationship Type="http://schemas.openxmlformats.org/officeDocument/2006/relationships/slideLayout" Target="/ppt/slideLayouts/slideLayout5.xml" Id="rId2" /><Relationship Type="http://schemas.openxmlformats.org/officeDocument/2006/relationships/notesSlide" Target="/ppt/notesSlides/notesSlide4.xml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-5-1.png" Id="rId1" /><Relationship Type="http://schemas.openxmlformats.org/officeDocument/2006/relationships/slideLayout" Target="/ppt/slideLayouts/slideLayout6.xml" Id="rId2" /><Relationship Type="http://schemas.openxmlformats.org/officeDocument/2006/relationships/notesSlide" Target="/ppt/notesSlides/notesSlide5.xml" Id="rI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-6-1.png" Id="rId1" /><Relationship Type="http://schemas.openxmlformats.org/officeDocument/2006/relationships/slideLayout" Target="/ppt/slideLayouts/slideLayout7.xml" Id="rId2" /><Relationship Type="http://schemas.openxmlformats.org/officeDocument/2006/relationships/notesSlide" Target="/ppt/notesSlides/notesSlide6.xml" Id="rI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-7-1.png" Id="rId1" /><Relationship Type="http://schemas.openxmlformats.org/officeDocument/2006/relationships/slideLayout" Target="/ppt/slideLayouts/slideLayout8.xml" Id="rId2" /><Relationship Type="http://schemas.openxmlformats.org/officeDocument/2006/relationships/notesSlide" Target="/ppt/notesSlides/notesSlide7.xml" Id="rI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-8-1.png" Id="rId1" /><Relationship Type="http://schemas.openxmlformats.org/officeDocument/2006/relationships/image" Target="/ppt/media/image-8-2.png" Id="rId2" /><Relationship Type="http://schemas.openxmlformats.org/officeDocument/2006/relationships/image" Target="/ppt/media/image-8-3.png" Id="rId3" /><Relationship Type="http://schemas.openxmlformats.org/officeDocument/2006/relationships/slideLayout" Target="/ppt/slideLayouts/slideLayout9.xml" Id="rId4" /><Relationship Type="http://schemas.openxmlformats.org/officeDocument/2006/relationships/notesSlide" Target="/ppt/notesSlides/notesSlide8.xml" Id="rI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-9-1.png" Id="rId1" /><Relationship Type="http://schemas.openxmlformats.org/officeDocument/2006/relationships/image" Target="/ppt/media/image-9-2.png" Id="rId2" /><Relationship Type="http://schemas.openxmlformats.org/officeDocument/2006/relationships/image" Target="/ppt/media/image-9-3.svg" Id="rId3" /><Relationship Type="http://schemas.openxmlformats.org/officeDocument/2006/relationships/image" Target="/ppt/media/image-9-4.png" Id="rId4" /><Relationship Type="http://schemas.openxmlformats.org/officeDocument/2006/relationships/image" Target="/ppt/media/image-9-5.svg" Id="rId5" /><Relationship Type="http://schemas.openxmlformats.org/officeDocument/2006/relationships/image" Target="/ppt/media/image-9-6.png" Id="rId6" /><Relationship Type="http://schemas.openxmlformats.org/officeDocument/2006/relationships/image" Target="/ppt/media/image-9-7.svg" Id="rId7" /><Relationship Type="http://schemas.openxmlformats.org/officeDocument/2006/relationships/image" Target="/ppt/media/image-9-8.png" Id="rId8" /><Relationship Type="http://schemas.openxmlformats.org/officeDocument/2006/relationships/image" Target="/ppt/media/image-9-9.svg" Id="rId9" /><Relationship Type="http://schemas.openxmlformats.org/officeDocument/2006/relationships/slideLayout" Target="/ppt/slideLayouts/slideLayout10.xml" Id="rId10" /><Relationship Type="http://schemas.openxmlformats.org/officeDocument/2006/relationships/notesSlide" Target="/ppt/notesSlides/notesSlide9.xml" Id="rId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-10-1.png" Id="rId1" /><Relationship Type="http://schemas.openxmlformats.org/officeDocument/2006/relationships/image" Target="/ppt/media/image-10-2.png" Id="rId2" /><Relationship Type="http://schemas.openxmlformats.org/officeDocument/2006/relationships/image" Target="/ppt/media/image-10-3.png" Id="rId3" /><Relationship Type="http://schemas.openxmlformats.org/officeDocument/2006/relationships/image" Target="/ppt/media/image-10-4.png" Id="rId4" /><Relationship Type="http://schemas.openxmlformats.org/officeDocument/2006/relationships/image" Target="/ppt/media/image-10-5.png" Id="rId5" /><Relationship Type="http://schemas.openxmlformats.org/officeDocument/2006/relationships/image" Target="/ppt/media/image-10-6.png" Id="rId6" /><Relationship Type="http://schemas.openxmlformats.org/officeDocument/2006/relationships/image" Target="/ppt/media/image-10-7.png" Id="rId7" /><Relationship Type="http://schemas.openxmlformats.org/officeDocument/2006/relationships/slideLayout" Target="/ppt/slideLayouts/slideLayout11.xml" Id="rId8" /><Relationship Type="http://schemas.openxmlformats.org/officeDocument/2006/relationships/notesSlide" Target="/ppt/notesSlides/notesSlide10.xml" Id="rId9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304633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Behavior Analysis Report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478821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Condensed insights from Jupyter analysis &amp; dashboard.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053114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Objective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3109198"/>
            <a:ext cx="7415927" cy="1410176"/>
          </a:xfrm>
          <a:prstGeom prst="roundRect">
            <a:avLst>
              <a:gd name="adj" fmla="val 7353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12493" y="337125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Understand customers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612493" y="3862268"/>
            <a:ext cx="68918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Demographics, purchases, subscriptions, seasons, payments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50437" y="4766191"/>
            <a:ext cx="7415927" cy="1410176"/>
          </a:xfrm>
          <a:prstGeom prst="roundRect">
            <a:avLst>
              <a:gd name="adj" fmla="val 7353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2493" y="502824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Enable decisions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612493" y="5519261"/>
            <a:ext cx="68918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Support data-driven strategy and targeting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42363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Methodology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2479715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2868811"/>
            <a:ext cx="3584496" cy="3048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6" name="Text 3"/>
          <p:cNvSpPr/>
          <p:nvPr/>
        </p:nvSpPr>
        <p:spPr>
          <a:xfrm>
            <a:off x="864037" y="305312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1. Data Collection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864037" y="3544133"/>
            <a:ext cx="358449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Transactions, demographics, payments, ratings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95349" y="2479715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695349" y="2868811"/>
            <a:ext cx="3584615" cy="3048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10" name="Text 7"/>
          <p:cNvSpPr/>
          <p:nvPr/>
        </p:nvSpPr>
        <p:spPr>
          <a:xfrm>
            <a:off x="4695349" y="3053120"/>
            <a:ext cx="345840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2. Cleaning &amp; Transformation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4695349" y="3544133"/>
            <a:ext cx="3584615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Handle missing values, standardize categories, compute aggregates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64037" y="5161240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64037" y="5550337"/>
            <a:ext cx="7415927" cy="3048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14" name="Text 11"/>
          <p:cNvSpPr/>
          <p:nvPr/>
        </p:nvSpPr>
        <p:spPr>
          <a:xfrm>
            <a:off x="864037" y="573464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3. EDA &amp; Dashboard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864037" y="6225659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Charts: bar, donut, pie, area, treemap. KPI selection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75045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Dashboard — Key KPIs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2929890"/>
            <a:ext cx="35536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4K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1269206" y="405300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Total Customers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4726305" y="2929890"/>
            <a:ext cx="35536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3.75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5131475" y="405300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Average Rating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2795111" y="5013008"/>
            <a:ext cx="35536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$233K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3200281" y="613612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Total Sales</a:t>
            </a:r>
            <a:endParaRPr lang="en-US" sz="2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0958" y="815578"/>
            <a:ext cx="4575453" cy="57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Sales by Category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958" y="2287905"/>
            <a:ext cx="8032552" cy="448317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43336" y="1838087"/>
            <a:ext cx="4093488" cy="1216938"/>
          </a:xfrm>
          <a:prstGeom prst="roundRect">
            <a:avLst>
              <a:gd name="adj" fmla="val 7106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72055" y="2066806"/>
            <a:ext cx="2287667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Clothing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772055" y="2524363"/>
            <a:ext cx="3636050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$104K — highest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543336" y="3226713"/>
            <a:ext cx="4093488" cy="1216938"/>
          </a:xfrm>
          <a:prstGeom prst="roundRect">
            <a:avLst>
              <a:gd name="adj" fmla="val 7106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72055" y="3455432"/>
            <a:ext cx="2287667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Accessories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772055" y="3912989"/>
            <a:ext cx="3636050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$74K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543336" y="4615339"/>
            <a:ext cx="4093488" cy="1216938"/>
          </a:xfrm>
          <a:prstGeom prst="roundRect">
            <a:avLst>
              <a:gd name="adj" fmla="val 7106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72055" y="4844058"/>
            <a:ext cx="2287667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Footwear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772055" y="5301615"/>
            <a:ext cx="3636050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$36K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543336" y="6003965"/>
            <a:ext cx="4093488" cy="1216938"/>
          </a:xfrm>
          <a:prstGeom prst="roundRect">
            <a:avLst>
              <a:gd name="adj" fmla="val 7106"/>
            </a:avLst>
          </a:prstGeom>
          <a:solidFill>
            <a:srgbClr val="191718">
              <a:alpha val="95000"/>
            </a:srgbClr>
          </a:solidFill>
          <a:ln w="22860">
            <a:solidFill>
              <a:srgbClr val="9220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72055" y="6232684"/>
            <a:ext cx="2287667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Outerwear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772055" y="6690241"/>
            <a:ext cx="3636050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$19K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5759" y="777240"/>
            <a:ext cx="3658910" cy="4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by Age Group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5759" y="1454110"/>
            <a:ext cx="10096500" cy="565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5759" y="7232809"/>
            <a:ext cx="10098762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Young Adults highest at 62.1K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02750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Subscription Impact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2361248"/>
            <a:ext cx="8175665" cy="456307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49539" y="2980015"/>
            <a:ext cx="4124325" cy="1539359"/>
          </a:xfrm>
          <a:prstGeom prst="roundRect">
            <a:avLst>
              <a:gd name="adj" fmla="val 9504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19059" y="2980015"/>
            <a:ext cx="121920" cy="1539359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</p:sp>
      <p:sp>
        <p:nvSpPr>
          <p:cNvPr id="6" name="Text 3"/>
          <p:cNvSpPr/>
          <p:nvPr/>
        </p:nvSpPr>
        <p:spPr>
          <a:xfrm>
            <a:off x="10018276" y="325731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Non-subscribers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018276" y="3847028"/>
            <a:ext cx="347829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2.85K — more purchases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649539" y="4766191"/>
            <a:ext cx="4124325" cy="1539359"/>
          </a:xfrm>
          <a:prstGeom prst="roundRect">
            <a:avLst>
              <a:gd name="adj" fmla="val 9504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19059" y="4766191"/>
            <a:ext cx="121920" cy="1539359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</p:sp>
      <p:sp>
        <p:nvSpPr>
          <p:cNvPr id="10" name="Text 7"/>
          <p:cNvSpPr/>
          <p:nvPr/>
        </p:nvSpPr>
        <p:spPr>
          <a:xfrm>
            <a:off x="10018276" y="504348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Subscribers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0018276" y="5633204"/>
            <a:ext cx="347829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1.05K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89359"/>
            <a:ext cx="64433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Gender &amp; Payment Insights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3668911"/>
            <a:ext cx="900827" cy="1125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73473" y="366891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Male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2073473" y="4159925"/>
            <a:ext cx="288559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$158K — higher value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682" y="3668911"/>
            <a:ext cx="900827" cy="1125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77119" y="366891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Female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6477119" y="4159925"/>
            <a:ext cx="288559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$75K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328" y="3668911"/>
            <a:ext cx="900827" cy="11259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80765" y="366891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Payments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0880765" y="4159925"/>
            <a:ext cx="2885599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Credit Card, Cash, PayPal ≈ $40K each; Debit $39K; Venmo &amp; Bank Transfer $37K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2326" y="554593"/>
            <a:ext cx="4241125" cy="530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Seasonal Trends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326" y="1379696"/>
            <a:ext cx="11705749" cy="58587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4962" y="4081017"/>
            <a:ext cx="2198477" cy="29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Low Variation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148355" y="6757853"/>
            <a:ext cx="2338806" cy="29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Low Seasonal Demand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05266" y="4081017"/>
            <a:ext cx="2198478" cy="29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High Variation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41777" y="1638427"/>
            <a:ext cx="2338807" cy="29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High Seasonal Demand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742513" y="5467490"/>
            <a:ext cx="2256948" cy="466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Fall — Moderate-low variation, steady decline</a:t>
            </a:r>
            <a:endParaRPr lang="en-US" sz="1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568" y="4728939"/>
            <a:ext cx="327433" cy="3274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41431" y="5479184"/>
            <a:ext cx="2256948" cy="466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Winter — Low variation, stable baseline</a:t>
            </a:r>
            <a:endParaRPr lang="en-US" sz="1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6188" y="4735883"/>
            <a:ext cx="327433" cy="3274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41431" y="3199214"/>
            <a:ext cx="2256948" cy="699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Summer — High variation, peak purchases</a:t>
            </a:r>
            <a:endParaRPr lang="en-US" sz="1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6188" y="2572487"/>
            <a:ext cx="327433" cy="3274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72349" y="3315789"/>
            <a:ext cx="2256948" cy="466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Spring — Moderate variation, rising demand</a:t>
            </a:r>
            <a:endParaRPr lang="en-US" sz="1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7107" y="2572487"/>
            <a:ext cx="327433" cy="32743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62326" y="7404378"/>
            <a:ext cx="11705749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Purchasing varies by season — use seasonal filters to target peaks.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2019" y="674370"/>
            <a:ext cx="4639985" cy="57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Recommendations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9" y="1607463"/>
            <a:ext cx="910828" cy="9108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2019" y="2738914"/>
            <a:ext cx="2319933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1. Focus Categories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2019" y="3134797"/>
            <a:ext cx="3036094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Prioritize Clothing &amp; Accessories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735" y="1607463"/>
            <a:ext cx="910828" cy="9108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68735" y="2738914"/>
            <a:ext cx="2319933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2. Target Young Adults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168735" y="3134797"/>
            <a:ext cx="3036094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Personalized offers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452" y="1607463"/>
            <a:ext cx="910828" cy="9108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5452" y="2738914"/>
            <a:ext cx="2319933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3. Boost Subscriptions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425452" y="3134797"/>
            <a:ext cx="3036094" cy="61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Improve benefits to convert non-subscribers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168" y="1607463"/>
            <a:ext cx="910828" cy="9108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682168" y="2738914"/>
            <a:ext cx="2319933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4. Gender Strategy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0682168" y="3134797"/>
            <a:ext cx="3036213" cy="92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Loyalty for male segment; increase female-targeted campaigns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019" y="4412694"/>
            <a:ext cx="910828" cy="9108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2019" y="5544145"/>
            <a:ext cx="2347912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5. Payment Promotions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912019" y="5940028"/>
            <a:ext cx="3036094" cy="61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Encourage debit &amp; online transfers</a:t>
            </a:r>
            <a:endParaRPr lang="en-US" sz="16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8735" y="4412694"/>
            <a:ext cx="910828" cy="91082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168735" y="5544145"/>
            <a:ext cx="2378512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6. Seasonal Promotions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4168735" y="5940028"/>
            <a:ext cx="3036094" cy="61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seasonal campaigns to maximize peaks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912019" y="6755130"/>
            <a:ext cx="12806362" cy="800100"/>
          </a:xfrm>
          <a:prstGeom prst="roundRect">
            <a:avLst>
              <a:gd name="adj" fmla="val 10961"/>
            </a:avLst>
          </a:prstGeom>
          <a:solidFill>
            <a:srgbClr val="480405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735" y="7069574"/>
            <a:ext cx="260985" cy="20871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590437" y="6983849"/>
            <a:ext cx="11919228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Insights align with dashboard metrics and analysis.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2026-03-03T06:06:45Z</dcterms:created>
  <dcterms:modified xsi:type="dcterms:W3CDTF">2026-03-03T06:06:45Z</dcterms:modified>
</cp:coreProperties>
</file>